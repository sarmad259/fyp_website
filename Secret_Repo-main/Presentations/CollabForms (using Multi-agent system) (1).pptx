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Century Schoolbook" panose="02040604050505020304" pitchFamily="18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0438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sz="7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sz="28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>
            <a:spLocks noGrp="1"/>
          </p:cNvSpPr>
          <p:nvPr>
            <p:ph type="pic" idx="2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fi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Anoop-Namboodiri/publication/226300537_Document_Structure_and_Layout_Analysis/links/0f31752d6c55f57255000000/Document-Structure-and-Layout-Analysis.pdf" TargetMode="External"/><Relationship Id="rId7" Type="http://schemas.openxmlformats.org/officeDocument/2006/relationships/hyperlink" Target="https://paper.researchbib.com/view/paper/29547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11126581/?utm_source=chatgpt.com" TargetMode="External"/><Relationship Id="rId5" Type="http://schemas.openxmlformats.org/officeDocument/2006/relationships/hyperlink" Target="https://link.springer.com/article/10.1007/s43621-025-01198-6?utm_source=chatgpt.com" TargetMode="External"/><Relationship Id="rId4" Type="http://schemas.openxmlformats.org/officeDocument/2006/relationships/hyperlink" Target="https://www.wseas.us/e-library/conferences/2007cscc/papers/561-514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ctrTitle"/>
          </p:nvPr>
        </p:nvSpPr>
        <p:spPr>
          <a:xfrm>
            <a:off x="1261872" y="2607198"/>
            <a:ext cx="531621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</a:pPr>
            <a:r>
              <a:rPr lang="en-US" b="1" dirty="0">
                <a:latin typeface="Century Gothic" panose="020B0502020202020204" pitchFamily="34" charset="0"/>
              </a:rPr>
              <a:t>Form-</a:t>
            </a:r>
            <a:r>
              <a:rPr lang="en-US" b="1" dirty="0">
                <a:solidFill>
                  <a:srgbClr val="00B0F0"/>
                </a:solidFill>
                <a:latin typeface="Century Gothic" panose="020B0502020202020204" pitchFamily="34" charset="0"/>
              </a:rPr>
              <a:t>Mate</a:t>
            </a:r>
          </a:p>
        </p:txBody>
      </p:sp>
      <p:sp>
        <p:nvSpPr>
          <p:cNvPr id="107" name="Google Shape;107;p1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531621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Group Members</a:t>
            </a:r>
            <a:endParaRPr sz="3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Ubaid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ur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Rehman (22P-9004)</a:t>
            </a:r>
            <a:endParaRPr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Sarmad Khan (22P-9009)</a:t>
            </a:r>
            <a:endParaRPr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Bilal Farooq(22P-9288)</a:t>
            </a:r>
            <a:endParaRPr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792025" y="4800600"/>
            <a:ext cx="4867221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bg1"/>
                </a:solidFill>
                <a:latin typeface="Century Gothic" panose="020B0502020202020204" pitchFamily="34" charset="0"/>
                <a:ea typeface="Century Schoolbook"/>
                <a:cs typeface="Century Schoolbook"/>
                <a:sym typeface="Century Schoolbook"/>
              </a:rPr>
              <a:t>Project Supervisor</a:t>
            </a:r>
            <a:endParaRPr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marR="0" lvl="0" indent="-34290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 panose="020B0604020202020204" pitchFamily="34" charset="0"/>
              <a:buChar char="•"/>
            </a:pPr>
            <a:r>
              <a:rPr lang="en-US" sz="2000" b="0" i="0" u="none" strike="noStrike" cap="none">
                <a:solidFill>
                  <a:schemeClr val="bg1"/>
                </a:solidFill>
                <a:latin typeface="Century Gothic" panose="020B0502020202020204" pitchFamily="34" charset="0"/>
                <a:ea typeface="Century Schoolbook"/>
                <a:cs typeface="Century Schoolbook"/>
                <a:sym typeface="Century Schoolbook"/>
              </a:rPr>
              <a:t>Dr. 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Century Gothic" panose="020B0502020202020204" pitchFamily="34" charset="0"/>
                <a:ea typeface="Century Schoolbook"/>
                <a:cs typeface="Century Schoolbook"/>
                <a:sym typeface="Century Schoolbook"/>
              </a:rPr>
              <a:t>Omer Usman</a:t>
            </a:r>
            <a:endParaRPr sz="1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9" name="Google Shape;109;p15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468" y="109250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3576578" y="2983780"/>
            <a:ext cx="4618298" cy="85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5400" b="1" dirty="0">
                <a:latin typeface="Century Gothic" panose="020B0502020202020204" pitchFamily="34" charset="0"/>
              </a:rPr>
              <a:t>Introduction</a:t>
            </a:r>
            <a:endParaRPr b="1" dirty="0">
              <a:latin typeface="Century Gothic" panose="020B0502020202020204" pitchFamily="34" charset="0"/>
            </a:endParaRPr>
          </a:p>
        </p:txBody>
      </p:sp>
      <p:pic>
        <p:nvPicPr>
          <p:cNvPr id="116" name="Google Shape;116;p16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1548" y="287582"/>
            <a:ext cx="848579" cy="82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3" name="Picture 2" descr="A cartoon of two people standing next to a question mark&#10;&#10;AI-generated content may be incorrect.">
            <a:extLst>
              <a:ext uri="{FF2B5EF4-FFF2-40B4-BE49-F238E27FC236}">
                <a16:creationId xmlns:a16="http://schemas.microsoft.com/office/drawing/2014/main" id="{121952E2-124F-2AD3-D178-7B48A8965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1007" y="0"/>
            <a:ext cx="2945757" cy="2945757"/>
          </a:xfrm>
          <a:prstGeom prst="rect">
            <a:avLst/>
          </a:prstGeom>
        </p:spPr>
      </p:pic>
      <p:pic>
        <p:nvPicPr>
          <p:cNvPr id="5" name="Picture 4" descr="Cartoon a cartoon of a person shrugging&#10;&#10;AI-generated content may be incorrect.">
            <a:extLst>
              <a:ext uri="{FF2B5EF4-FFF2-40B4-BE49-F238E27FC236}">
                <a16:creationId xmlns:a16="http://schemas.microsoft.com/office/drawing/2014/main" id="{B78EB779-5EDB-B8E6-DACF-B1C413613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572" y="3621806"/>
            <a:ext cx="2952268" cy="2952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98FE6D-AD4E-3577-52E1-E7D234FDFA7B}"/>
              </a:ext>
            </a:extLst>
          </p:cNvPr>
          <p:cNvSpPr txBox="1"/>
          <p:nvPr/>
        </p:nvSpPr>
        <p:spPr>
          <a:xfrm>
            <a:off x="1296365" y="4930815"/>
            <a:ext cx="268695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What is Form-Mate</a:t>
            </a:r>
            <a:r>
              <a:rPr lang="en-US" sz="1800" dirty="0">
                <a:latin typeface="+mj-lt"/>
              </a:rPr>
              <a:t>?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Need of Project</a:t>
            </a:r>
            <a:r>
              <a:rPr lang="en-US" sz="1800" dirty="0">
                <a:latin typeface="+mj-lt"/>
              </a:rPr>
              <a:t>?</a:t>
            </a:r>
            <a:endParaRPr lang="en-US" sz="1800" dirty="0"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3877751" y="2987013"/>
            <a:ext cx="3969884" cy="994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6000" b="1" dirty="0">
                <a:latin typeface="Century Gothic" panose="020B0502020202020204" pitchFamily="34" charset="0"/>
              </a:rPr>
              <a:t>Motivation</a:t>
            </a:r>
            <a:endParaRPr sz="6000" b="1" dirty="0">
              <a:latin typeface="Century Gothic" panose="020B0502020202020204" pitchFamily="34" charset="0"/>
            </a:endParaRPr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4" name="Google Shape;116;p16" descr="National University of Computer and Emerging Sciences - Wikipedia">
            <a:extLst>
              <a:ext uri="{FF2B5EF4-FFF2-40B4-BE49-F238E27FC236}">
                <a16:creationId xmlns:a16="http://schemas.microsoft.com/office/drawing/2014/main" id="{3FDCC650-0CE8-7A4B-96AD-1C0E6F95CC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1548" y="287582"/>
            <a:ext cx="848579" cy="82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A cartoon of a person holding his head&#10;&#10;AI-generated content may be incorrect.">
            <a:extLst>
              <a:ext uri="{FF2B5EF4-FFF2-40B4-BE49-F238E27FC236}">
                <a16:creationId xmlns:a16="http://schemas.microsoft.com/office/drawing/2014/main" id="{5EFED99D-AABA-85C0-11C6-066A0C29F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38" y="4709764"/>
            <a:ext cx="2169267" cy="2169267"/>
          </a:xfrm>
          <a:prstGeom prst="rect">
            <a:avLst/>
          </a:prstGeom>
        </p:spPr>
      </p:pic>
      <p:pic>
        <p:nvPicPr>
          <p:cNvPr id="20" name="Picture 19" descr="A person sitting at a desk with a computer and an hourglass&#10;&#10;AI-generated content may be incorrect.">
            <a:extLst>
              <a:ext uri="{FF2B5EF4-FFF2-40B4-BE49-F238E27FC236}">
                <a16:creationId xmlns:a16="http://schemas.microsoft.com/office/drawing/2014/main" id="{D4BF3CC3-DF98-5B68-F226-2A5CCC1E1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2604" y="-286227"/>
            <a:ext cx="3318551" cy="32609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7D0FDBE-232A-5DA0-247D-973D655440FF}"/>
              </a:ext>
            </a:extLst>
          </p:cNvPr>
          <p:cNvSpPr txBox="1"/>
          <p:nvPr/>
        </p:nvSpPr>
        <p:spPr>
          <a:xfrm>
            <a:off x="4861368" y="4236333"/>
            <a:ext cx="2762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Workload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Instant Decision</a:t>
            </a:r>
          </a:p>
        </p:txBody>
      </p:sp>
      <p:pic>
        <p:nvPicPr>
          <p:cNvPr id="24" name="Picture 23" descr="A computer screen with graphics&#10;&#10;AI-generated content may be incorrect.">
            <a:extLst>
              <a:ext uri="{FF2B5EF4-FFF2-40B4-BE49-F238E27FC236}">
                <a16:creationId xmlns:a16="http://schemas.microsoft.com/office/drawing/2014/main" id="{7CBF00A6-87EB-987C-985B-3F38168F9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602" y="4362697"/>
            <a:ext cx="2963842" cy="29638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>
            <a:spLocks noGrp="1"/>
          </p:cNvSpPr>
          <p:nvPr>
            <p:ph type="title"/>
          </p:nvPr>
        </p:nvSpPr>
        <p:spPr>
          <a:xfrm>
            <a:off x="4051367" y="3298777"/>
            <a:ext cx="4236103" cy="96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6000" b="1" dirty="0">
                <a:latin typeface="Century Gothic" panose="020B0502020202020204" pitchFamily="34" charset="0"/>
              </a:rPr>
              <a:t>Problems</a:t>
            </a:r>
            <a:endParaRPr sz="6000" b="1" dirty="0">
              <a:latin typeface="Century Gothic" panose="020B0502020202020204" pitchFamily="34" charset="0"/>
            </a:endParaRPr>
          </a:p>
        </p:txBody>
      </p:sp>
      <p:sp>
        <p:nvSpPr>
          <p:cNvPr id="131" name="Google Shape;131;p18"/>
          <p:cNvSpPr txBox="1">
            <a:spLocks noGrp="1"/>
          </p:cNvSpPr>
          <p:nvPr>
            <p:ph type="body" idx="1"/>
          </p:nvPr>
        </p:nvSpPr>
        <p:spPr>
          <a:xfrm>
            <a:off x="5012073" y="4328927"/>
            <a:ext cx="3442116" cy="321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entury Gothic" panose="020B0502020202020204" pitchFamily="34" charset="0"/>
              </a:rPr>
              <a:t>Slow Processing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entury Gothic" panose="020B0502020202020204" pitchFamily="34" charset="0"/>
              </a:rPr>
              <a:t>Lack of coordination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entury Gothic" panose="020B0502020202020204" pitchFamily="34" charset="0"/>
              </a:rPr>
              <a:t>Poor Tracking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entury Gothic" panose="020B0502020202020204" pitchFamily="34" charset="0"/>
              </a:rPr>
              <a:t>High Operational Cost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entury Gothic" panose="020B0502020202020204" pitchFamily="34" charset="0"/>
              </a:rPr>
              <a:t>And many more…</a:t>
            </a:r>
          </a:p>
          <a:p>
            <a:pPr marL="285750" indent="-285750">
              <a:spcBef>
                <a:spcPts val="0"/>
              </a:spcBef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spcBef>
                <a:spcPts val="0"/>
              </a:spcBef>
            </a:pP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7" name="Picture 6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BC7A379C-9176-CEB4-ED8B-64E9EACE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45384"/>
            <a:ext cx="3912002" cy="3912002"/>
          </a:xfrm>
          <a:prstGeom prst="rect">
            <a:avLst/>
          </a:prstGeom>
        </p:spPr>
      </p:pic>
      <p:pic>
        <p:nvPicPr>
          <p:cNvPr id="11" name="Picture 10" descr="A cartoon of a person with his hands on his head&#10;&#10;AI-generated content may be incorrect.">
            <a:extLst>
              <a:ext uri="{FF2B5EF4-FFF2-40B4-BE49-F238E27FC236}">
                <a16:creationId xmlns:a16="http://schemas.microsoft.com/office/drawing/2014/main" id="{DAEC3083-2B60-2E1E-E228-7B22F803C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000" y="1544065"/>
            <a:ext cx="2932494" cy="2834359"/>
          </a:xfrm>
          <a:prstGeom prst="rect">
            <a:avLst/>
          </a:prstGeom>
        </p:spPr>
      </p:pic>
      <p:pic>
        <p:nvPicPr>
          <p:cNvPr id="13" name="Picture 12" descr="A no paper sign with red circle&#10;&#10;AI-generated content may be incorrect.">
            <a:extLst>
              <a:ext uri="{FF2B5EF4-FFF2-40B4-BE49-F238E27FC236}">
                <a16:creationId xmlns:a16="http://schemas.microsoft.com/office/drawing/2014/main" id="{8AD92B8F-4893-2468-2D53-E5677A579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713" y="4406155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377688" y="2962816"/>
            <a:ext cx="2847141" cy="1013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5400" b="1" dirty="0">
                <a:latin typeface="Century Gothic" panose="020B0502020202020204" pitchFamily="34" charset="0"/>
              </a:rPr>
              <a:t>Solution</a:t>
            </a:r>
            <a:endParaRPr sz="5400" b="1" dirty="0">
              <a:latin typeface="Century Gothic" panose="020B0502020202020204" pitchFamily="34" charset="0"/>
            </a:endParaRPr>
          </a:p>
        </p:txBody>
      </p:sp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E36B2A-84B6-2A68-C13A-32C753658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725" y="0"/>
            <a:ext cx="3240670" cy="3240670"/>
          </a:xfrm>
          <a:prstGeom prst="rect">
            <a:avLst/>
          </a:prstGeom>
        </p:spPr>
      </p:pic>
      <p:pic>
        <p:nvPicPr>
          <p:cNvPr id="3" name="Google Shape;116;p16" descr="National University of Computer and Emerging Sciences - Wikipedia">
            <a:extLst>
              <a:ext uri="{FF2B5EF4-FFF2-40B4-BE49-F238E27FC236}">
                <a16:creationId xmlns:a16="http://schemas.microsoft.com/office/drawing/2014/main" id="{CCC4E289-E134-E5E7-AEEC-C9E7FEF701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1548" y="287582"/>
            <a:ext cx="848579" cy="82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person thinking about something&#10;&#10;AI-generated content may be incorrect.">
            <a:extLst>
              <a:ext uri="{FF2B5EF4-FFF2-40B4-BE49-F238E27FC236}">
                <a16:creationId xmlns:a16="http://schemas.microsoft.com/office/drawing/2014/main" id="{8B903B58-B27B-90A2-5196-3CB720447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487" y="4029564"/>
            <a:ext cx="2569640" cy="25696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94BEA9-0520-1BA3-710F-BDEB8F0D6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55489" y="3976275"/>
            <a:ext cx="4328932" cy="2569640"/>
          </a:xfrm>
        </p:spPr>
        <p:txBody>
          <a:bodyPr>
            <a:norm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Form-Mate ( automated system 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entury Gothic" panose="020B0502020202020204" pitchFamily="34" charset="0"/>
              </a:rPr>
              <a:t>Green AI principles</a:t>
            </a:r>
          </a:p>
          <a:p>
            <a:r>
              <a:rPr lang="en-US" dirty="0">
                <a:latin typeface="Century Gothic" panose="020B0502020202020204" pitchFamily="34" charset="0"/>
              </a:rPr>
              <a:t>Tracking and Security</a:t>
            </a:r>
          </a:p>
          <a:p>
            <a:r>
              <a:rPr lang="en-US" dirty="0">
                <a:latin typeface="Century Gothic" panose="020B0502020202020204" pitchFamily="34" charset="0"/>
              </a:rPr>
              <a:t>Faster Processing</a:t>
            </a:r>
          </a:p>
          <a:p>
            <a:r>
              <a:rPr lang="en-US" dirty="0">
                <a:latin typeface="Century Gothic" panose="020B0502020202020204" pitchFamily="34" charset="0"/>
              </a:rPr>
              <a:t>Adaptive decisions</a:t>
            </a:r>
          </a:p>
        </p:txBody>
      </p:sp>
      <p:pic>
        <p:nvPicPr>
          <p:cNvPr id="10" name="Picture 9" descr="A cartoon of a person pointing at a light bulb&#10;&#10;AI-generated content may be incorrect.">
            <a:extLst>
              <a:ext uri="{FF2B5EF4-FFF2-40B4-BE49-F238E27FC236}">
                <a16:creationId xmlns:a16="http://schemas.microsoft.com/office/drawing/2014/main" id="{B0289F0E-6302-9775-D574-B2DA9A6974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8462" y="4005739"/>
            <a:ext cx="3004595" cy="28817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3646255" y="2963118"/>
            <a:ext cx="2974462" cy="76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5400" b="1" dirty="0">
                <a:latin typeface="Century Gothic" panose="020B0502020202020204" pitchFamily="34" charset="0"/>
              </a:rPr>
              <a:t>Scope</a:t>
            </a:r>
            <a:endParaRPr sz="5400" b="1" dirty="0">
              <a:latin typeface="Century Gothic" panose="020B0502020202020204" pitchFamily="34" charset="0"/>
            </a:endParaRPr>
          </a:p>
        </p:txBody>
      </p:sp>
      <p:sp>
        <p:nvSpPr>
          <p:cNvPr id="147" name="Google Shape;147;p2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6;p16" descr="National University of Computer and Emerging Sciences - Wikipedia">
            <a:extLst>
              <a:ext uri="{FF2B5EF4-FFF2-40B4-BE49-F238E27FC236}">
                <a16:creationId xmlns:a16="http://schemas.microsoft.com/office/drawing/2014/main" id="{2A4F96CE-9083-D005-8CA4-E150D7CF93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1548" y="287582"/>
            <a:ext cx="848579" cy="823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F83042-CCB3-274A-5185-8AF893C26D96}"/>
              </a:ext>
            </a:extLst>
          </p:cNvPr>
          <p:cNvSpPr txBox="1"/>
          <p:nvPr/>
        </p:nvSpPr>
        <p:spPr>
          <a:xfrm>
            <a:off x="4490978" y="3796240"/>
            <a:ext cx="3831221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Form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Multi-Agent Collaboration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Decision Support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Database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Error Handling and Security</a:t>
            </a:r>
          </a:p>
        </p:txBody>
      </p:sp>
      <p:pic>
        <p:nvPicPr>
          <p:cNvPr id="6" name="Picture 5" descr="A computer screen with a person holding a sign&#10;&#10;AI-generated content may be incorrect.">
            <a:extLst>
              <a:ext uri="{FF2B5EF4-FFF2-40B4-BE49-F238E27FC236}">
                <a16:creationId xmlns:a16="http://schemas.microsoft.com/office/drawing/2014/main" id="{56861303-AFC2-E263-5E96-DB53A072A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970116" cy="2630202"/>
          </a:xfrm>
          <a:prstGeom prst="rect">
            <a:avLst/>
          </a:prstGeom>
        </p:spPr>
      </p:pic>
      <p:pic>
        <p:nvPicPr>
          <p:cNvPr id="8" name="Picture 7" descr="A blue light on a black background&#10;&#10;AI-generated content may be incorrect.">
            <a:extLst>
              <a:ext uri="{FF2B5EF4-FFF2-40B4-BE49-F238E27FC236}">
                <a16:creationId xmlns:a16="http://schemas.microsoft.com/office/drawing/2014/main" id="{BD4357AE-5BAB-9D16-185D-450B9077C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102" y="4337915"/>
            <a:ext cx="4519938" cy="2520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3223894" y="1637335"/>
            <a:ext cx="309020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6000" b="1" dirty="0">
                <a:latin typeface="Century Gothic" panose="020B0502020202020204" pitchFamily="34" charset="0"/>
              </a:rPr>
              <a:t>Goals</a:t>
            </a:r>
            <a:endParaRPr sz="6000" b="1" dirty="0">
              <a:latin typeface="Century Gothic" panose="020B0502020202020204" pitchFamily="34" charset="0"/>
            </a:endParaRPr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3923815" y="2534854"/>
            <a:ext cx="4166519" cy="213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Provide Automated System</a:t>
            </a:r>
          </a:p>
          <a:p>
            <a:pPr marL="182880" lvl="0" indent="-1828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Reduce Workload</a:t>
            </a:r>
          </a:p>
          <a:p>
            <a:pPr marL="182880" lvl="0" indent="-1828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AI Driven Campus</a:t>
            </a:r>
          </a:p>
          <a:p>
            <a:pPr marL="182880" lvl="0" indent="-1828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Fast and Reliable Processing</a:t>
            </a:r>
          </a:p>
        </p:txBody>
      </p:sp>
      <p:sp>
        <p:nvSpPr>
          <p:cNvPr id="155" name="Google Shape;155;p2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" name="Picture 2" descr="A person walking up stairs to a trophy&#10;&#10;AI-generated content may be incorrect.">
            <a:extLst>
              <a:ext uri="{FF2B5EF4-FFF2-40B4-BE49-F238E27FC236}">
                <a16:creationId xmlns:a16="http://schemas.microsoft.com/office/drawing/2014/main" id="{DC4BE573-7B82-C081-4F21-41D49B836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519" y="0"/>
            <a:ext cx="2434864" cy="2434864"/>
          </a:xfrm>
          <a:prstGeom prst="rect">
            <a:avLst/>
          </a:prstGeom>
        </p:spPr>
      </p:pic>
      <p:pic>
        <p:nvPicPr>
          <p:cNvPr id="5" name="Picture 4" descr="A person walking up a graph with a trophy&#10;&#10;AI-generated content may be incorrect.">
            <a:extLst>
              <a:ext uri="{FF2B5EF4-FFF2-40B4-BE49-F238E27FC236}">
                <a16:creationId xmlns:a16="http://schemas.microsoft.com/office/drawing/2014/main" id="{F7C7FD91-C0BB-ECDA-0177-62CCFFB83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0675" y="664820"/>
            <a:ext cx="3886200" cy="5829300"/>
          </a:xfrm>
          <a:prstGeom prst="rect">
            <a:avLst/>
          </a:prstGeom>
        </p:spPr>
      </p:pic>
      <p:pic>
        <p:nvPicPr>
          <p:cNvPr id="7" name="Picture 6" descr="A group of people holding a green arrow&#10;&#10;AI-generated content may be incorrect.">
            <a:extLst>
              <a:ext uri="{FF2B5EF4-FFF2-40B4-BE49-F238E27FC236}">
                <a16:creationId xmlns:a16="http://schemas.microsoft.com/office/drawing/2014/main" id="{BE8EEE2A-55DF-E4A1-CCAF-05231163C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757" y="4554317"/>
            <a:ext cx="3652295" cy="24348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>
            <a:spLocks noGrp="1"/>
          </p:cNvSpPr>
          <p:nvPr>
            <p:ph type="title"/>
          </p:nvPr>
        </p:nvSpPr>
        <p:spPr>
          <a:xfrm>
            <a:off x="202506" y="1814499"/>
            <a:ext cx="2944368" cy="878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dirty="0">
                <a:latin typeface="Century Gothic" panose="020B0502020202020204" pitchFamily="34" charset="0"/>
              </a:rPr>
              <a:t>Objectives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" name="Picture 9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6D6A864A-AB58-9781-64BF-FF99A3277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0065"/>
            <a:ext cx="11292840" cy="3325091"/>
          </a:xfrm>
          <a:prstGeom prst="rect">
            <a:avLst/>
          </a:prstGeom>
        </p:spPr>
      </p:pic>
      <p:pic>
        <p:nvPicPr>
          <p:cNvPr id="12" name="Picture 11" descr="A group of people standing on a floor with a target&#10;&#10;AI-generated content may be incorrect.">
            <a:extLst>
              <a:ext uri="{FF2B5EF4-FFF2-40B4-BE49-F238E27FC236}">
                <a16:creationId xmlns:a16="http://schemas.microsoft.com/office/drawing/2014/main" id="{759B077A-9865-5DEC-14D0-E8BA24D6E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101" y="-316572"/>
            <a:ext cx="4656564" cy="33250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3365774" y="2982507"/>
            <a:ext cx="4523360" cy="73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dirty="0">
                <a:latin typeface="Century Gothic" panose="020B0502020202020204" pitchFamily="34" charset="0"/>
              </a:rPr>
              <a:t>Expected Result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" name="Picture 2" descr="A person pointing at a person on a clipboard&#10;&#10;AI-generated content may be incorrect.">
            <a:extLst>
              <a:ext uri="{FF2B5EF4-FFF2-40B4-BE49-F238E27FC236}">
                <a16:creationId xmlns:a16="http://schemas.microsoft.com/office/drawing/2014/main" id="{A548B0AD-9DD4-D470-1B02-431883B0E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407" y="0"/>
            <a:ext cx="3428342" cy="3429000"/>
          </a:xfrm>
          <a:prstGeom prst="rect">
            <a:avLst/>
          </a:prstGeom>
        </p:spPr>
      </p:pic>
      <p:pic>
        <p:nvPicPr>
          <p:cNvPr id="7" name="Picture 6" descr="A person with her arms raised and a graduation cap above her head&#10;&#10;AI-generated content may be incorrect.">
            <a:extLst>
              <a:ext uri="{FF2B5EF4-FFF2-40B4-BE49-F238E27FC236}">
                <a16:creationId xmlns:a16="http://schemas.microsoft.com/office/drawing/2014/main" id="{ED1FBAC2-C3EB-CECE-2FF2-F2C58CAE7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904" y="4572482"/>
            <a:ext cx="3714750" cy="266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CA162C-389C-67CE-0343-2B8672BAC3C1}"/>
              </a:ext>
            </a:extLst>
          </p:cNvPr>
          <p:cNvSpPr txBox="1"/>
          <p:nvPr/>
        </p:nvSpPr>
        <p:spPr>
          <a:xfrm>
            <a:off x="4051139" y="3784925"/>
            <a:ext cx="4919937" cy="21171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Automated Form Management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Efficient Coordination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User satisfaction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Dynamic Adaptability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 panose="020B0502020202020204" pitchFamily="34" charset="0"/>
              </a:rPr>
              <a:t>Intelligent Decision Support ( plus point </a:t>
            </a:r>
            <a:r>
              <a:rPr lang="en-US" dirty="0">
                <a:latin typeface="Century Gothic" panose="020B0502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994239" y="514866"/>
            <a:ext cx="4135319" cy="1013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5400" b="1" dirty="0">
                <a:latin typeface="Century Gothic" panose="020B0502020202020204" pitchFamily="34" charset="0"/>
              </a:rPr>
              <a:t>Team Work</a:t>
            </a:r>
            <a:endParaRPr sz="5400" b="1" dirty="0">
              <a:latin typeface="Century Gothic" panose="020B0502020202020204" pitchFamily="34" charset="0"/>
            </a:endParaRPr>
          </a:p>
        </p:txBody>
      </p:sp>
      <p:sp>
        <p:nvSpPr>
          <p:cNvPr id="176" name="Google Shape;176;p2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" name="Picture 2" descr="A group of people holding puzzle pieces&#10;&#10;AI-generated content may be incorrect.">
            <a:extLst>
              <a:ext uri="{FF2B5EF4-FFF2-40B4-BE49-F238E27FC236}">
                <a16:creationId xmlns:a16="http://schemas.microsoft.com/office/drawing/2014/main" id="{3D05A8CE-E736-5EC8-A131-70EACD09E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570" y="-23178"/>
            <a:ext cx="2070409" cy="2070409"/>
          </a:xfrm>
          <a:prstGeom prst="rect">
            <a:avLst/>
          </a:prstGeom>
        </p:spPr>
      </p:pic>
      <p:pic>
        <p:nvPicPr>
          <p:cNvPr id="9" name="Picture 8" descr="A close-up of a document&#10;&#10;AI-generated content may be incorrect.">
            <a:extLst>
              <a:ext uri="{FF2B5EF4-FFF2-40B4-BE49-F238E27FC236}">
                <a16:creationId xmlns:a16="http://schemas.microsoft.com/office/drawing/2014/main" id="{94E0C8AC-BD05-79F9-D7EB-EBCD1FCAC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65" y="2011385"/>
            <a:ext cx="10136462" cy="4541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1261872" y="1099226"/>
            <a:ext cx="3426860" cy="592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dirty="0">
                <a:latin typeface="Century Gothic" panose="020B0502020202020204" pitchFamily="34" charset="0"/>
              </a:rPr>
              <a:t>References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183" name="Google Shape;183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8D1C0E-A7E3-EF67-3A32-6F461AA76981}"/>
              </a:ext>
            </a:extLst>
          </p:cNvPr>
          <p:cNvSpPr txBox="1"/>
          <p:nvPr/>
        </p:nvSpPr>
        <p:spPr>
          <a:xfrm>
            <a:off x="1261872" y="1906620"/>
            <a:ext cx="879380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hlinkClick r:id="rId3"/>
              </a:rPr>
              <a:t>https://www.researchgate.net/profile/Anoop-Namboodiri/publication/226300537_Document_Structure_and_Layout_Analysis/links/0f31752d6c55f57255000000/Document-Structure-and-Layout-Analysis.pdf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hlinkClick r:id="rId4"/>
              </a:rPr>
              <a:t>https://www.wseas.us/e-library/conferences/2007cscc/papers/561-514.pdf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hlinkClick r:id="rId5"/>
              </a:rPr>
              <a:t>https://link.springer.com/article/10.1007/s43621-025-01198-6?utm_source=chatgpt.com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hlinkClick r:id="rId6"/>
              </a:rPr>
              <a:t>https://pmc.ncbi.nlm.nih.gov/articles/PMC11126581/?utm_source=chatgpt.com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hlinkClick r:id="rId7"/>
              </a:rPr>
              <a:t>https://paper.researchbib.com/view/paper/295472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1261872" y="1099226"/>
            <a:ext cx="3426860" cy="592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dirty="0">
                <a:latin typeface="Century Gothic" panose="020B0502020202020204" pitchFamily="34" charset="0"/>
              </a:rPr>
              <a:t>Workflow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183" name="Google Shape;183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4" name="Picture 3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DF3A5B11-6F7F-EB3A-0DC5-2AC7CA056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41790"/>
            <a:ext cx="4477473" cy="671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06497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241</Words>
  <Application>Microsoft Office PowerPoint</Application>
  <PresentationFormat>Widescreen</PresentationFormat>
  <Paragraphs>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Calibri</vt:lpstr>
      <vt:lpstr>Century Schoolbook</vt:lpstr>
      <vt:lpstr>View</vt:lpstr>
      <vt:lpstr>View</vt:lpstr>
      <vt:lpstr>Form-Mate</vt:lpstr>
      <vt:lpstr>Introduction</vt:lpstr>
      <vt:lpstr>Motivation</vt:lpstr>
      <vt:lpstr>Problems</vt:lpstr>
      <vt:lpstr>Solution</vt:lpstr>
      <vt:lpstr>Scope</vt:lpstr>
      <vt:lpstr>Goals</vt:lpstr>
      <vt:lpstr>Objectives</vt:lpstr>
      <vt:lpstr>Expected Result</vt:lpstr>
      <vt:lpstr>Team Work</vt:lpstr>
      <vt:lpstr>References</vt:lpstr>
      <vt:lpstr>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dr-PC</cp:lastModifiedBy>
  <cp:revision>10</cp:revision>
  <dcterms:modified xsi:type="dcterms:W3CDTF">2025-09-17T00:45:52Z</dcterms:modified>
</cp:coreProperties>
</file>