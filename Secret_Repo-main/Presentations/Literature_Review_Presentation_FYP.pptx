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10468" TargetMode="External"/><Relationship Id="rId2" Type="http://schemas.openxmlformats.org/officeDocument/2006/relationships/hyperlink" Target="https://ieeexplore.ieee.org/abstract/document/83526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chapter/10.1007/978-1-4419-9200-0_8" TargetMode="External"/><Relationship Id="rId5" Type="http://schemas.openxmlformats.org/officeDocument/2006/relationships/hyperlink" Target="https://arxiv.org/abs/2502.11098" TargetMode="External"/><Relationship Id="rId4" Type="http://schemas.openxmlformats.org/officeDocument/2006/relationships/hyperlink" Target="https://link.springer.com/article/10.1007/s10462-021-10097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31836"/>
            <a:ext cx="7597302" cy="215727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rial Black" panose="020B0A04020102020204" pitchFamily="34" charset="0"/>
                <a:cs typeface="BrowalliaUPC" panose="020B0604020202020204" pitchFamily="34" charset="-34"/>
              </a:rPr>
              <a:t>Formulate: </a:t>
            </a:r>
            <a:r>
              <a:rPr dirty="0">
                <a:latin typeface="Candara Light" panose="020E0502030303020204" pitchFamily="34" charset="0"/>
                <a:cs typeface="BrowalliaUPC" panose="020B0604020202020204" pitchFamily="34" charset="-34"/>
              </a:rPr>
              <a:t>Intelligent Multi‑Agent Automat</a:t>
            </a:r>
            <a:r>
              <a:rPr lang="en-US" dirty="0">
                <a:latin typeface="Candara Light" panose="020E0502030303020204" pitchFamily="34" charset="0"/>
                <a:cs typeface="BrowalliaUPC" panose="020B0604020202020204" pitchFamily="34" charset="-34"/>
              </a:rPr>
              <a:t>ed</a:t>
            </a:r>
            <a:r>
              <a:rPr dirty="0">
                <a:latin typeface="Candara Light" panose="020E0502030303020204" pitchFamily="34" charset="0"/>
                <a:cs typeface="BrowalliaUPC" panose="020B0604020202020204" pitchFamily="34" charset="-34"/>
              </a:rPr>
              <a:t> </a:t>
            </a:r>
            <a:r>
              <a:rPr lang="en-US" dirty="0">
                <a:latin typeface="Candara Light" panose="020E0502030303020204" pitchFamily="34" charset="0"/>
                <a:cs typeface="BrowalliaUPC" panose="020B0604020202020204" pitchFamily="34" charset="-34"/>
              </a:rPr>
              <a:t>System for Form Processing</a:t>
            </a:r>
            <a:endParaRPr dirty="0">
              <a:latin typeface="Candara Light" panose="020E0502030303020204" pitchFamily="34" charset="0"/>
              <a:cs typeface="BrowalliaUPC" panose="020B0604020202020204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25503"/>
            <a:ext cx="5359940" cy="1828800"/>
          </a:xfrm>
        </p:spPr>
        <p:txBody>
          <a:bodyPr/>
          <a:lstStyle/>
          <a:p>
            <a:pPr>
              <a:defRPr sz="1800">
                <a:latin typeface="Calibri"/>
              </a:defRPr>
            </a:pPr>
            <a:r>
              <a:rPr dirty="0"/>
              <a:t>Team Members: </a:t>
            </a:r>
            <a:r>
              <a:rPr lang="en-US" dirty="0"/>
              <a:t>Ubaid</a:t>
            </a:r>
            <a:r>
              <a:rPr dirty="0"/>
              <a:t>, B</a:t>
            </a:r>
            <a:r>
              <a:rPr lang="en-US" dirty="0"/>
              <a:t>ilal</a:t>
            </a:r>
            <a:r>
              <a:rPr dirty="0"/>
              <a:t>, </a:t>
            </a:r>
            <a:r>
              <a:rPr lang="en-US" dirty="0"/>
              <a:t>Sarmad</a:t>
            </a: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Supervisor: </a:t>
            </a:r>
            <a:r>
              <a:rPr lang="en-US" dirty="0"/>
              <a:t>Dr. Omer Usman</a:t>
            </a: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Department of Computer Science, FAST‑NUCES Peshawar</a:t>
            </a:r>
          </a:p>
          <a:p>
            <a:pPr>
              <a:defRPr sz="1800">
                <a:latin typeface="Calibri"/>
              </a:defRPr>
            </a:pPr>
            <a:r>
              <a:rPr dirty="0"/>
              <a:t>Date: </a:t>
            </a:r>
            <a:r>
              <a:rPr lang="en-US" dirty="0"/>
              <a:t>22-Oct-2025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6614810" cy="999685"/>
          </a:xfrm>
        </p:spPr>
        <p:txBody>
          <a:bodyPr>
            <a:noAutofit/>
          </a:bodyPr>
          <a:lstStyle/>
          <a:p>
            <a:pPr algn="l"/>
            <a:r>
              <a:rPr sz="3600" b="1" dirty="0">
                <a:latin typeface="Candara Light" panose="020E0502030303020204" pitchFamily="34" charset="0"/>
              </a:rP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586" y="927087"/>
            <a:ext cx="6498078" cy="1360742"/>
          </a:xfrm>
        </p:spPr>
        <p:txBody>
          <a:bodyPr>
            <a:normAutofit fontScale="85000" lnSpcReduction="10000"/>
          </a:bodyPr>
          <a:lstStyle/>
          <a:p>
            <a:pPr>
              <a:defRPr sz="1800">
                <a:latin typeface="Calibri"/>
              </a:defRPr>
            </a:pPr>
            <a:r>
              <a:rPr dirty="0"/>
              <a:t>Manual form submissions cause delays, errors, and administrative overhead.</a:t>
            </a:r>
          </a:p>
          <a:p>
            <a:pPr>
              <a:defRPr sz="1800">
                <a:latin typeface="Calibri"/>
              </a:defRPr>
            </a:pPr>
            <a:r>
              <a:rPr dirty="0"/>
              <a:t>Existing portals manage data but lack intelligent validation and routing.</a:t>
            </a:r>
          </a:p>
          <a:p>
            <a:pPr>
              <a:defRPr sz="1800">
                <a:latin typeface="Calibri"/>
              </a:defRPr>
            </a:pPr>
            <a:r>
              <a:rPr dirty="0"/>
              <a:t>Need for intelligent automation combining OCR, validation, and adaptive learning.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9A7658-1685-F1F1-66C8-32691CC40F78}"/>
              </a:ext>
            </a:extLst>
          </p:cNvPr>
          <p:cNvSpPr txBox="1">
            <a:spLocks/>
          </p:cNvSpPr>
          <p:nvPr/>
        </p:nvSpPr>
        <p:spPr>
          <a:xfrm>
            <a:off x="457199" y="2180132"/>
            <a:ext cx="4052177" cy="543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Candara Light" panose="020E0502030303020204" pitchFamily="34" charset="0"/>
              </a:rPr>
              <a:t>Research Objectives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E785F0-D1BE-FA5B-1403-324791D5E6A0}"/>
              </a:ext>
            </a:extLst>
          </p:cNvPr>
          <p:cNvSpPr txBox="1">
            <a:spLocks/>
          </p:cNvSpPr>
          <p:nvPr/>
        </p:nvSpPr>
        <p:spPr>
          <a:xfrm>
            <a:off x="1050586" y="2848773"/>
            <a:ext cx="6965005" cy="11590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Automate academic form workflows from submission to approval.</a:t>
            </a:r>
          </a:p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Integrate hierarchical routing (Student → Advisor → HOD → Director).</a:t>
            </a:r>
          </a:p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Implement a modular multi‑agent architecture for scalability and efficiency.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2EAFF-B68E-9DC8-2A11-863771E9D99D}"/>
              </a:ext>
            </a:extLst>
          </p:cNvPr>
          <p:cNvSpPr txBox="1">
            <a:spLocks/>
          </p:cNvSpPr>
          <p:nvPr/>
        </p:nvSpPr>
        <p:spPr>
          <a:xfrm>
            <a:off x="457199" y="4171672"/>
            <a:ext cx="5243207" cy="603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Survey of Existing Solutions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819EBD-2068-178B-B4BB-26AE0D463C97}"/>
              </a:ext>
            </a:extLst>
          </p:cNvPr>
          <p:cNvSpPr txBox="1">
            <a:spLocks/>
          </p:cNvSpPr>
          <p:nvPr/>
        </p:nvSpPr>
        <p:spPr>
          <a:xfrm>
            <a:off x="1024446" y="4939264"/>
            <a:ext cx="7545622" cy="1393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Commercial systems handle data but lack intelligent workflow automation.</a:t>
            </a:r>
          </a:p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Use OCR tool to extract text but lack contextual understanding.</a:t>
            </a:r>
          </a:p>
          <a:p>
            <a:pPr>
              <a:defRPr sz="1800">
                <a:latin typeface="Calibri"/>
              </a:defRPr>
            </a:pPr>
            <a:r>
              <a:rPr lang="en-US" sz="1800" dirty="0">
                <a:latin typeface="Calibri"/>
              </a:rPr>
              <a:t>No existing academic systems apply multi‑agent automation to form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P-StructureV3 Demo">
            <a:extLst>
              <a:ext uri="{FF2B5EF4-FFF2-40B4-BE49-F238E27FC236}">
                <a16:creationId xmlns:a16="http://schemas.microsoft.com/office/drawing/2014/main" id="{54FA0353-BD12-9E1D-284B-3143D0031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9" y="77822"/>
            <a:ext cx="5052734" cy="325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Examples of Layout Data Visualization">
            <a:extLst>
              <a:ext uri="{FF2B5EF4-FFF2-40B4-BE49-F238E27FC236}">
                <a16:creationId xmlns:a16="http://schemas.microsoft.com/office/drawing/2014/main" id="{E9B7F0D9-C4E8-A797-AD02-7DD7FA722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5" r="23809" b="10113"/>
          <a:stretch/>
        </p:blipFill>
        <p:spPr bwMode="auto">
          <a:xfrm>
            <a:off x="3745149" y="3423409"/>
            <a:ext cx="5052734" cy="335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CE3DD7-C31A-3949-F344-5B2ADA0F5CEE}"/>
              </a:ext>
            </a:extLst>
          </p:cNvPr>
          <p:cNvSpPr txBox="1"/>
          <p:nvPr/>
        </p:nvSpPr>
        <p:spPr>
          <a:xfrm>
            <a:off x="5700409" y="1303506"/>
            <a:ext cx="1513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 Paddle OCR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DDFC3-3A07-C847-9014-1D06F6C1260F}"/>
              </a:ext>
            </a:extLst>
          </p:cNvPr>
          <p:cNvSpPr txBox="1"/>
          <p:nvPr/>
        </p:nvSpPr>
        <p:spPr>
          <a:xfrm>
            <a:off x="1313235" y="5194570"/>
            <a:ext cx="1688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Parser -&gt;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642"/>
            <a:ext cx="2840477" cy="3237047"/>
          </a:xfrm>
        </p:spPr>
        <p:txBody>
          <a:bodyPr>
            <a:normAutofit/>
          </a:bodyPr>
          <a:lstStyle/>
          <a:p>
            <a:pPr algn="l"/>
            <a:r>
              <a:rPr sz="4000" b="1" dirty="0">
                <a:latin typeface="Candara Light" panose="020E0502030303020204" pitchFamily="34" charset="0"/>
              </a:rPr>
              <a:t>Proposed System Architecture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D8DF6CB8-D673-4C79-64F9-5C4C48C98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42" y="0"/>
            <a:ext cx="60439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35383F4-2243-76D3-BBB2-C31D83B4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642"/>
            <a:ext cx="2840477" cy="323704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Use Case Diagram</a:t>
            </a:r>
            <a:endParaRPr sz="4000" b="1" dirty="0">
              <a:latin typeface="Candara Light" panose="020E0502030303020204" pitchFamily="34" charset="0"/>
            </a:endParaRPr>
          </a:p>
        </p:txBody>
      </p:sp>
      <p:pic>
        <p:nvPicPr>
          <p:cNvPr id="6" name="Picture 5" descr="A diagram of a person&#10;&#10;AI-generated content may be incorrect.">
            <a:extLst>
              <a:ext uri="{FF2B5EF4-FFF2-40B4-BE49-F238E27FC236}">
                <a16:creationId xmlns:a16="http://schemas.microsoft.com/office/drawing/2014/main" id="{938426FF-E9A4-F54D-BF23-6095951D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58" y="9727"/>
            <a:ext cx="5959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00A4FC-BC56-1489-0C1D-2F77FD88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642"/>
            <a:ext cx="2840477" cy="3237047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Activity Diagram (I)</a:t>
            </a:r>
            <a:endParaRPr sz="4000" b="1" dirty="0">
              <a:latin typeface="Candara Light" panose="020E0502030303020204" pitchFamily="34" charset="0"/>
            </a:endParaRPr>
          </a:p>
        </p:txBody>
      </p: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ED381290-EF11-E082-BE44-099A95BA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92" y="-130118"/>
            <a:ext cx="3972203" cy="71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3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523E2A-F136-29BB-EAFA-C0F37167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81642"/>
            <a:ext cx="2412460" cy="380125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Activity Diagram (II)</a:t>
            </a:r>
            <a:endParaRPr sz="4000" b="1" dirty="0">
              <a:latin typeface="Candara Light" panose="020E0502030303020204" pitchFamily="34" charset="0"/>
            </a:endParaRPr>
          </a:p>
        </p:txBody>
      </p:sp>
      <p:pic>
        <p:nvPicPr>
          <p:cNvPr id="6" name="Picture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78460E18-6E81-927D-393F-AD8604B3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1" t="2191" r="1042" b="2329"/>
          <a:stretch/>
        </p:blipFill>
        <p:spPr>
          <a:xfrm>
            <a:off x="1906618" y="38909"/>
            <a:ext cx="7208195" cy="678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1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A3489F2-5A33-CAE1-A9D1-A9002136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361"/>
            <a:ext cx="9144000" cy="52286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6644C7-8004-9395-2E37-FFD486D2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37"/>
            <a:ext cx="9046723" cy="1827691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Sequence Diagram (Whole System)</a:t>
            </a:r>
            <a:endParaRPr sz="4000" b="1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DBA0CF-5B6E-38CF-79B3-B2FC13F8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1" y="-214010"/>
            <a:ext cx="1235413" cy="737356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Candara Light" panose="020E0502030303020204" pitchFamily="34" charset="0"/>
              </a:rPr>
              <a:t>Test Cases</a:t>
            </a:r>
            <a:endParaRPr sz="3200" b="1" dirty="0">
              <a:latin typeface="Candara Light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F2635-48AC-6BF9-A14B-BC2BDBE128BA}"/>
              </a:ext>
            </a:extLst>
          </p:cNvPr>
          <p:cNvSpPr txBox="1"/>
          <p:nvPr/>
        </p:nvSpPr>
        <p:spPr>
          <a:xfrm>
            <a:off x="1721800" y="223296"/>
            <a:ext cx="732493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1600" b="1" dirty="0">
                <a:latin typeface="Bahnschrift" panose="020B0502040204020203" pitchFamily="34" charset="0"/>
              </a:rPr>
              <a:t>Valid Form Submission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Given- Student submits form with complete details (reason + signature </a:t>
            </a:r>
            <a:r>
              <a:rPr lang="en-US" sz="1400" dirty="0" err="1">
                <a:latin typeface="Bahnschrift" panose="020B0502040204020203" pitchFamily="34" charset="0"/>
              </a:rPr>
              <a:t>etc</a:t>
            </a:r>
            <a:r>
              <a:rPr lang="en-US" sz="1400" dirty="0">
                <a:latin typeface="Bahnschrift" panose="020B0502040204020203" pitchFamily="3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When- Validation agent check fields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Then- Status: Valid, Forward -&gt; Policy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1600" b="1" dirty="0">
                <a:latin typeface="Bahnschrift" panose="020B0502040204020203" pitchFamily="34" charset="0"/>
              </a:rPr>
              <a:t>Missing Course Field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Given- Course Field Empty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When- Validation agent start 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Then-  Status: Invalid, Manager -&gt; Rejected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1600" b="1" dirty="0">
                <a:latin typeface="Bahnschrift" panose="020B0502040204020203" pitchFamily="34" charset="0"/>
              </a:rPr>
              <a:t>Duplicate Submission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Given- A student submits a form identical to one they submitted earlier.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When- The Validation Agent detects a matching record within a recent timeframe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Then-  The system flags it as a temporary duplicate and notifies the student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Otherwise- If the prior submission is old or closed, it’s treated as a new valid request.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b="1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1600" b="1" dirty="0">
                <a:latin typeface="Bahnschrift" panose="020B0502040204020203" pitchFamily="34" charset="0"/>
              </a:rPr>
              <a:t>Cross-Agent Conflict Resolution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Given- The Validation agent marks a form “valid” but manager detects policy agent says “</a:t>
            </a:r>
            <a:r>
              <a:rPr lang="en-US" sz="1400" dirty="0" err="1">
                <a:latin typeface="Bahnschrift" panose="020B0502040204020203" pitchFamily="34" charset="0"/>
              </a:rPr>
              <a:t>e.g</a:t>
            </a:r>
            <a:r>
              <a:rPr lang="en-US" sz="1400" dirty="0">
                <a:latin typeface="Bahnschrift" panose="020B0502040204020203" pitchFamily="34" charset="0"/>
              </a:rPr>
              <a:t> Course already dropped before”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When- Both agents return conflicting returns.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Then-  Manager override the form with “review required” and send form to Admin for manual approval.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latin typeface="Bahnschrift" panose="020B0502040204020203" pitchFamily="34" charset="0"/>
            </a:endParaRPr>
          </a:p>
          <a:p>
            <a:pPr marL="342900" indent="-342900">
              <a:buAutoNum type="arabicParenR"/>
            </a:pPr>
            <a:r>
              <a:rPr lang="en-US" sz="1600" b="1" dirty="0">
                <a:latin typeface="Bahnschrift" panose="020B0502040204020203" pitchFamily="34" charset="0"/>
              </a:rPr>
              <a:t>Role Based Data Access Violation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Given- A student form contains restricted fields (</a:t>
            </a:r>
            <a:r>
              <a:rPr lang="en-US" sz="1400" dirty="0" err="1">
                <a:latin typeface="Bahnschrift" panose="020B0502040204020203" pitchFamily="34" charset="0"/>
              </a:rPr>
              <a:t>e.g</a:t>
            </a:r>
            <a:r>
              <a:rPr lang="en-US" sz="1400" dirty="0">
                <a:latin typeface="Bahnschrift" panose="020B0502040204020203" pitchFamily="34" charset="0"/>
              </a:rPr>
              <a:t> advisor comments)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When- A low agent rather than validation agent try to access fields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" panose="020B0502040204020203" pitchFamily="34" charset="0"/>
              </a:rPr>
              <a:t>Then-  Access is denied</a:t>
            </a:r>
          </a:p>
          <a:p>
            <a:pPr marL="342900" indent="-342900">
              <a:buAutoNum type="arabicParenR"/>
            </a:pPr>
            <a:endParaRPr lang="en-US" sz="1600" b="1" dirty="0">
              <a:latin typeface="Bahnschrift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0ECEB9-E618-801E-557C-E7EB99DA1D10}"/>
              </a:ext>
            </a:extLst>
          </p:cNvPr>
          <p:cNvCxnSpPr>
            <a:cxnSpLocks/>
          </p:cNvCxnSpPr>
          <p:nvPr/>
        </p:nvCxnSpPr>
        <p:spPr>
          <a:xfrm flipV="1">
            <a:off x="1371597" y="1877438"/>
            <a:ext cx="0" cy="34630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6B60328-2C9E-403A-C0D5-5481DB42F078}"/>
              </a:ext>
            </a:extLst>
          </p:cNvPr>
          <p:cNvSpPr/>
          <p:nvPr/>
        </p:nvSpPr>
        <p:spPr>
          <a:xfrm>
            <a:off x="1332686" y="1720580"/>
            <a:ext cx="77821" cy="7012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0E9BBB-C6DA-EC04-456C-C135EAFE6D0C}"/>
              </a:ext>
            </a:extLst>
          </p:cNvPr>
          <p:cNvSpPr/>
          <p:nvPr/>
        </p:nvSpPr>
        <p:spPr>
          <a:xfrm>
            <a:off x="1332686" y="5427223"/>
            <a:ext cx="77821" cy="7012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7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F97E60-A8C2-FF2D-3934-497DE27D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363911"/>
            <a:ext cx="5856051" cy="84404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>
                <a:latin typeface="Candara Light" panose="020E0502030303020204" pitchFamily="34" charset="0"/>
              </a:rPr>
              <a:t>Research Papers &amp; Citations</a:t>
            </a:r>
            <a:endParaRPr sz="4000" b="1" dirty="0">
              <a:latin typeface="Candara Light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FC451-1552-1AB8-E69F-60009BEC0841}"/>
              </a:ext>
            </a:extLst>
          </p:cNvPr>
          <p:cNvSpPr txBox="1"/>
          <p:nvPr/>
        </p:nvSpPr>
        <p:spPr>
          <a:xfrm>
            <a:off x="1517514" y="1366974"/>
            <a:ext cx="5632316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Multi-Agent System: A Survey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[1]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Foundations of Agentic AI and AI Agent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[2]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Consequences in Multi Agent System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[3]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Talk Structurally Act Hierarchically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[4]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Managing Distributed Parallel Workflow Systems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[5]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447D7-E750-6A3D-FC4D-13C1C6EC2266}"/>
              </a:ext>
            </a:extLst>
          </p:cNvPr>
          <p:cNvSpPr txBox="1"/>
          <p:nvPr/>
        </p:nvSpPr>
        <p:spPr>
          <a:xfrm>
            <a:off x="617709" y="6140309"/>
            <a:ext cx="81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Aknine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 and Pinson, S., 2003. Managing Distributed Parallel Workflow Systems Using a Multi-agent Method. In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Agent Supported Cooperative Work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177-203). Boston, MA: Springer US.</a:t>
            </a:r>
            <a:endParaRPr lang="en-US" sz="1200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CBD93-44E7-A52C-C0B4-8931E47461B5}"/>
              </a:ext>
            </a:extLst>
          </p:cNvPr>
          <p:cNvSpPr txBox="1"/>
          <p:nvPr/>
        </p:nvSpPr>
        <p:spPr>
          <a:xfrm>
            <a:off x="642024" y="4445544"/>
            <a:ext cx="8190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Dorri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Kanhere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S.S. and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Jurdak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2018. Multi-agent systems: A survey.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Access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pp.28573-28593.</a:t>
            </a: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9B482-7205-708E-61E1-F4139A51F279}"/>
              </a:ext>
            </a:extLst>
          </p:cNvPr>
          <p:cNvSpPr txBox="1"/>
          <p:nvPr/>
        </p:nvSpPr>
        <p:spPr>
          <a:xfrm>
            <a:off x="642032" y="4740486"/>
            <a:ext cx="8550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Sapkota, R.,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Roumeliotis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K.I. and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Karkee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2025. Ai agents vs. agentic ai: A conceptual taxonomy, applications and challenges.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arXiv:2505.10468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401DA-9789-3CA7-E5E4-3F0DE656ABF5}"/>
              </a:ext>
            </a:extLst>
          </p:cNvPr>
          <p:cNvSpPr txBox="1"/>
          <p:nvPr/>
        </p:nvSpPr>
        <p:spPr>
          <a:xfrm>
            <a:off x="632304" y="5165712"/>
            <a:ext cx="887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Amirkhani, A. and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Barshooi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A.H., 2022. Consensus in multi-agent systems: a review.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Artificial Intelligence Review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55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(5), pp.3897-3935.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E3531-0331-AE36-AAA5-117761084A0A}"/>
              </a:ext>
            </a:extLst>
          </p:cNvPr>
          <p:cNvSpPr txBox="1"/>
          <p:nvPr/>
        </p:nvSpPr>
        <p:spPr>
          <a:xfrm>
            <a:off x="623682" y="5678644"/>
            <a:ext cx="820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Wang, Z., Moriyama, S., Wang, W.Y.,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Gangopadhyay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B. and Takamatsu, S., 2025. Talk structurally, act hierarchically: A collaborative framework for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llm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multi-agent systems. 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arXiv:2502.11098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259B1-89E3-A979-9E34-E6365E44A2CA}"/>
              </a:ext>
            </a:extLst>
          </p:cNvPr>
          <p:cNvSpPr txBox="1"/>
          <p:nvPr/>
        </p:nvSpPr>
        <p:spPr>
          <a:xfrm>
            <a:off x="204258" y="439862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F988C-0EEA-8A54-3E7E-FAF71177C618}"/>
              </a:ext>
            </a:extLst>
          </p:cNvPr>
          <p:cNvSpPr txBox="1"/>
          <p:nvPr/>
        </p:nvSpPr>
        <p:spPr>
          <a:xfrm>
            <a:off x="204258" y="476553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[2]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197C8-063D-CA85-A0A4-DABBE1232F54}"/>
              </a:ext>
            </a:extLst>
          </p:cNvPr>
          <p:cNvSpPr txBox="1"/>
          <p:nvPr/>
        </p:nvSpPr>
        <p:spPr>
          <a:xfrm>
            <a:off x="199392" y="5145029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[3]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E8D05-934D-AE64-8ED2-575D5F70BF48}"/>
              </a:ext>
            </a:extLst>
          </p:cNvPr>
          <p:cNvSpPr txBox="1"/>
          <p:nvPr/>
        </p:nvSpPr>
        <p:spPr>
          <a:xfrm>
            <a:off x="199398" y="5607921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[4]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977E3-12BA-B301-932C-FBDE9E0F3450}"/>
              </a:ext>
            </a:extLst>
          </p:cNvPr>
          <p:cNvSpPr txBox="1"/>
          <p:nvPr/>
        </p:nvSpPr>
        <p:spPr>
          <a:xfrm>
            <a:off x="209132" y="606958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96709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623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Bahnschrift</vt:lpstr>
      <vt:lpstr>Calibri</vt:lpstr>
      <vt:lpstr>Candara Light</vt:lpstr>
      <vt:lpstr>Office Theme</vt:lpstr>
      <vt:lpstr>Formulate: Intelligent Multi‑Agent Automated System for Form Processing</vt:lpstr>
      <vt:lpstr>Motivation &amp; Problem Statement</vt:lpstr>
      <vt:lpstr>PowerPoint Presentation</vt:lpstr>
      <vt:lpstr>Proposed System Architecture</vt:lpstr>
      <vt:lpstr>Use Case Diagram</vt:lpstr>
      <vt:lpstr>Activity Diagram (I)</vt:lpstr>
      <vt:lpstr>Activity Diagram (II)</vt:lpstr>
      <vt:lpstr>Sequence Diagram (Whole System)</vt:lpstr>
      <vt:lpstr>Test Cases</vt:lpstr>
      <vt:lpstr>Research Papers &amp; Citations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dr-PC</cp:lastModifiedBy>
  <cp:revision>3</cp:revision>
  <dcterms:created xsi:type="dcterms:W3CDTF">2013-01-27T09:14:16Z</dcterms:created>
  <dcterms:modified xsi:type="dcterms:W3CDTF">2025-10-21T22:04:49Z</dcterms:modified>
  <cp:category/>
</cp:coreProperties>
</file>