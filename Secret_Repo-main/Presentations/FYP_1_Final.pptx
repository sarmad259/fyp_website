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3" r:id="rId3"/>
    <p:sldId id="274" r:id="rId4"/>
    <p:sldId id="272" r:id="rId5"/>
    <p:sldId id="275" r:id="rId6"/>
    <p:sldId id="276" r:id="rId7"/>
    <p:sldId id="278" r:id="rId8"/>
    <p:sldId id="277" r:id="rId9"/>
    <p:sldId id="263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8124-F413-2259-F8CC-A0F7E8EDC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C277B-61CE-B772-E5E6-B0A82B466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FDB27-DC0A-DE85-609B-0F80E38C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FCBC-8F1F-D95E-16BF-BC207F26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A205-4A5D-89D5-6B6D-B8C97500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58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35DC-9F2C-ED70-62BC-F39A2EDE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E2F2-1D1F-C42B-2BE9-D184AA639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784E-5CEF-2F8F-55B4-7C0FDB03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EAC19-DE95-3A20-5BBA-6AA500E5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CDD8C-1031-C122-EAEF-91EBFD57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5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7930-715E-C293-1506-3E29CEE6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5E49-1DE1-F920-258D-F992FAC76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F2CF1-A927-0154-FE96-FC39F160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DA2F-3BDC-CD63-38F8-092FC75A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BD7C8-B023-1E2F-35AD-7F66C05E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0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7318-AB03-8A38-13AF-1CD71332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A7092-2E23-35D3-D4CF-B5F542031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E7D75-BB19-A6FF-BA98-0451DF683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91D6A-2870-46BC-338B-8D605BBA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E3940-BF93-E8E6-D4CD-FB6DE395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78EA7-8C6E-D316-F655-96F609AB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8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D009E-C5E4-CFE2-83B6-FE92B1F9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35609-1B3B-87F1-5E7B-12699ECDD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B723D-2E88-C4CA-D4F8-26B2F3FCB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122F4-B233-8C6E-F5AF-F14AA52FB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3BD97B-9527-2867-B58F-0CF614221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2303A-E13F-471F-E9B8-7B4A6D19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28E7D3-B427-A1A2-F6B8-12CCBEAB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FF6E9-B14B-1CB8-5308-1B0D1362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2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7448-192C-C5A6-DBF7-1938A975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C124C-3AA6-E4CB-CE57-7ED294D5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34D64B-782F-8196-4906-8D33FF05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1EF09-50C8-8789-B03A-4BB35041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9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82B02-FB74-DB8C-2183-0285FE9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B0815-E730-2915-8466-5587B59E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0ACB7-E9F1-D6AA-A2A8-A5134485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3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A863-B7A6-6A83-ECF2-62CB48D2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C06C-2EF3-AA19-05D8-27F60C71B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B7CCE-76A5-9686-2BCB-0D8711CED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CDC57-396C-D15C-9DBE-4E5CCF33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4153F-FBD3-6F8D-0D08-CC41317A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93160-D2E4-F14F-9749-875E717F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2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96F4-5075-8846-3720-2B21D191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7225B-74F0-5F85-F765-EAAACDAE6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84191-F150-9807-E968-A8B458641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4394D-81A8-0BEB-9F00-2D1A2229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233D8-856C-F89F-094E-F9828FC8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D3D6D-C528-AF67-ECEE-010BFE10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16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F6E4-6AAF-3026-7DF8-6F0F56D4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11918-0DC9-F7E4-4867-B90B6E96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2BE54-9C42-D9FB-32D9-F70B5064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A3D41-44CD-F5ED-B6A1-C4125EA6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B1EC8-FC2F-AFFC-9173-914783F7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2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8B962-22C7-2E80-0D52-4700B5481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D4110-C663-E11C-DC47-AC3872C45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4BD80-BD8B-9E8B-0251-5882B8E7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556E3-B55B-F30F-8FCF-A7EEDA34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9AF2C-B678-97D4-866D-44864C4A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5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C35D5-637C-C44C-9A10-21CCD504A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D147B-044F-69F9-A7A3-07EB89D0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25B2E-894B-7C1A-7D41-9186F16C8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A8A45-4407-492C-B2FB-10CEF1E4D23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4B61-B5D5-0CD1-F9EC-49A9737C2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799E-617A-8913-8CB2-2342E1DAB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362A4-4AC1-48E1-B5F9-2C6179181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2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731837"/>
            <a:ext cx="7597302" cy="215727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rial Black" panose="020B0A04020102020204" pitchFamily="34" charset="0"/>
                <a:cs typeface="BrowalliaUPC" panose="020B0604020202020204" pitchFamily="34" charset="-34"/>
              </a:rPr>
              <a:t>Formulate: </a:t>
            </a:r>
            <a:r>
              <a:rPr dirty="0">
                <a:latin typeface="Candara Light" panose="020E0502030303020204" pitchFamily="34" charset="0"/>
                <a:cs typeface="BrowalliaUPC" panose="020B0604020202020204" pitchFamily="34" charset="-34"/>
              </a:rPr>
              <a:t>Intelligent Multi‑Agent Automat</a:t>
            </a:r>
            <a:r>
              <a:rPr lang="en-US" dirty="0">
                <a:latin typeface="Candara Light" panose="020E0502030303020204" pitchFamily="34" charset="0"/>
                <a:cs typeface="BrowalliaUPC" panose="020B0604020202020204" pitchFamily="34" charset="-34"/>
              </a:rPr>
              <a:t>ed</a:t>
            </a:r>
            <a:r>
              <a:rPr dirty="0">
                <a:latin typeface="Candara Light" panose="020E0502030303020204" pitchFamily="34" charset="0"/>
                <a:cs typeface="BrowalliaUPC" panose="020B0604020202020204" pitchFamily="34" charset="-34"/>
              </a:rPr>
              <a:t> </a:t>
            </a:r>
            <a:r>
              <a:rPr lang="en-US" dirty="0">
                <a:latin typeface="Candara Light" panose="020E0502030303020204" pitchFamily="34" charset="0"/>
                <a:cs typeface="BrowalliaUPC" panose="020B0604020202020204" pitchFamily="34" charset="-34"/>
              </a:rPr>
              <a:t>System for Form Processing</a:t>
            </a:r>
            <a:endParaRPr dirty="0">
              <a:latin typeface="Candara Light" panose="020E0502030303020204" pitchFamily="34" charset="0"/>
              <a:cs typeface="BrowalliaUPC" panose="020B0604020202020204" pitchFamily="34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625503"/>
            <a:ext cx="5359940" cy="1828800"/>
          </a:xfrm>
        </p:spPr>
        <p:txBody>
          <a:bodyPr/>
          <a:lstStyle/>
          <a:p>
            <a:pPr>
              <a:defRPr sz="1800">
                <a:latin typeface="Calibri"/>
              </a:defRPr>
            </a:pPr>
            <a:r>
              <a:rPr dirty="0"/>
              <a:t>Team Members: </a:t>
            </a:r>
            <a:r>
              <a:rPr lang="en-US" dirty="0"/>
              <a:t>Ubaid</a:t>
            </a:r>
            <a:r>
              <a:rPr dirty="0"/>
              <a:t>, B</a:t>
            </a:r>
            <a:r>
              <a:rPr lang="en-US" dirty="0"/>
              <a:t>ilal</a:t>
            </a:r>
            <a:r>
              <a:rPr dirty="0"/>
              <a:t>, </a:t>
            </a:r>
            <a:r>
              <a:rPr lang="en-US" dirty="0"/>
              <a:t>Sarmad</a:t>
            </a: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Supervisor: </a:t>
            </a:r>
            <a:r>
              <a:rPr lang="en-US" dirty="0"/>
              <a:t>Dr. Omer Usman</a:t>
            </a: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Department of Computer Science, FAST‑NUCES Peshawar</a:t>
            </a:r>
          </a:p>
          <a:p>
            <a:pPr>
              <a:defRPr sz="1800">
                <a:latin typeface="Calibri"/>
              </a:defRPr>
            </a:pPr>
            <a:r>
              <a:rPr dirty="0"/>
              <a:t>Date</a:t>
            </a:r>
            <a:r>
              <a:t>: </a:t>
            </a:r>
            <a:r>
              <a:rPr lang="en-US"/>
              <a:t>3-Nov-2025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D411-C847-7B33-2720-E3DA3C22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3807691" cy="1269711"/>
          </a:xfrm>
        </p:spPr>
        <p:txBody>
          <a:bodyPr/>
          <a:lstStyle/>
          <a:p>
            <a:r>
              <a:rPr lang="en-US" b="1" dirty="0">
                <a:latin typeface="Candara Light" panose="020E0502030303020204" pitchFamily="34" charset="0"/>
              </a:rPr>
              <a:t>Last 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E78D-8B0F-48B5-9752-D264CD558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7" y="1634835"/>
            <a:ext cx="9229438" cy="248458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ndara Light" panose="020E0502030303020204" pitchFamily="34" charset="0"/>
              </a:rPr>
              <a:t>Segmentation</a:t>
            </a:r>
          </a:p>
          <a:p>
            <a:r>
              <a:rPr lang="en-US" sz="2400" b="1" dirty="0">
                <a:latin typeface="Candara Light" panose="020E0502030303020204" pitchFamily="34" charset="0"/>
              </a:rPr>
              <a:t>Why agents? Maybe modules or some other name</a:t>
            </a:r>
          </a:p>
          <a:p>
            <a:r>
              <a:rPr lang="en-US" sz="2400" b="1" dirty="0">
                <a:latin typeface="Candara Light" panose="020E0502030303020204" pitchFamily="34" charset="0"/>
              </a:rPr>
              <a:t>Form extraction agent?</a:t>
            </a:r>
          </a:p>
          <a:p>
            <a:endParaRPr lang="en-US" sz="2400" b="1" dirty="0">
              <a:latin typeface="Candara Light" panose="020E0502030303020204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6416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1EAE98-40C9-156A-1F66-7803EAC58057}"/>
              </a:ext>
            </a:extLst>
          </p:cNvPr>
          <p:cNvSpPr txBox="1"/>
          <p:nvPr/>
        </p:nvSpPr>
        <p:spPr>
          <a:xfrm>
            <a:off x="1237751" y="1674674"/>
            <a:ext cx="3500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andara Light" panose="020E0502030303020204" pitchFamily="34" charset="0"/>
              </a:rPr>
              <a:t>Decision Summary</a:t>
            </a:r>
            <a:endParaRPr lang="en-US" sz="5400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366A3309-E8F8-8EEB-102D-93C85332A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200" y="3216566"/>
            <a:ext cx="2902382" cy="2902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99832C-9EAB-1BC7-EF77-C21B225EE885}"/>
              </a:ext>
            </a:extLst>
          </p:cNvPr>
          <p:cNvSpPr txBox="1"/>
          <p:nvPr/>
        </p:nvSpPr>
        <p:spPr>
          <a:xfrm flipH="1">
            <a:off x="2160846" y="3685772"/>
            <a:ext cx="3106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Object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Segmentation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B9CC5-1566-ED18-6752-853B86F13A31}"/>
              </a:ext>
            </a:extLst>
          </p:cNvPr>
          <p:cNvSpPr txBox="1"/>
          <p:nvPr/>
        </p:nvSpPr>
        <p:spPr>
          <a:xfrm>
            <a:off x="302403" y="6604084"/>
            <a:ext cx="74077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Our dataset is annotated using instance segmentation and model is using object detection to improve detection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41707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1DBD7-1BC5-9230-25DB-85479988AB55}"/>
              </a:ext>
            </a:extLst>
          </p:cNvPr>
          <p:cNvSpPr txBox="1"/>
          <p:nvPr/>
        </p:nvSpPr>
        <p:spPr>
          <a:xfrm>
            <a:off x="544946" y="42955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Candara Light" panose="020E0502030303020204" pitchFamily="34" charset="0"/>
              </a:rPr>
              <a:t>Progress Overview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6D691-AE66-B0D9-1E16-08830097DF3F}"/>
              </a:ext>
            </a:extLst>
          </p:cNvPr>
          <p:cNvSpPr txBox="1"/>
          <p:nvPr/>
        </p:nvSpPr>
        <p:spPr>
          <a:xfrm>
            <a:off x="1770114" y="2364508"/>
            <a:ext cx="4147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Dataset?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Model Training?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Tool used?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ndara Light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ndara Light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ndara Light" panose="020E0502030303020204" pitchFamily="34" charset="0"/>
            </a:endParaRPr>
          </a:p>
          <a:p>
            <a:endParaRPr lang="en-US" b="1" dirty="0">
              <a:latin typeface="Candara Light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Data collection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ndara Light" panose="020E0502030303020204" pitchFamily="34" charset="0"/>
              </a:rPr>
              <a:t>Challenges and Hurdles ( Labeling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ndara Light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ndara Light" panose="020E0502030303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D29693-B8CA-76F9-D0A1-41C558912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723" y="2364508"/>
            <a:ext cx="1839385" cy="223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A8F29F-E324-BEB5-4411-C57474FAF086}"/>
              </a:ext>
            </a:extLst>
          </p:cNvPr>
          <p:cNvSpPr txBox="1"/>
          <p:nvPr/>
        </p:nvSpPr>
        <p:spPr>
          <a:xfrm flipH="1">
            <a:off x="1468351" y="3842790"/>
            <a:ext cx="42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ndara Light" panose="020E0502030303020204" pitchFamily="34" charset="0"/>
              </a:rPr>
              <a:t>Struggles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3E22A-F95D-E651-D3CB-A71B83A5D12F}"/>
              </a:ext>
            </a:extLst>
          </p:cNvPr>
          <p:cNvSpPr txBox="1"/>
          <p:nvPr/>
        </p:nvSpPr>
        <p:spPr>
          <a:xfrm>
            <a:off x="1468351" y="1902843"/>
            <a:ext cx="2375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ndara Light" panose="020E0502030303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72696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F319-49AA-2351-0D54-2B95D573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6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ndara Light" panose="020E0502030303020204" pitchFamily="34" charset="0"/>
              </a:rPr>
              <a:t>Dataset?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5296D-86AF-F71C-2C92-261F40A5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763" y="1012831"/>
            <a:ext cx="3142673" cy="181350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ndara Light" panose="020E0502030303020204" pitchFamily="34" charset="0"/>
              </a:rPr>
              <a:t>Canva – 50%</a:t>
            </a:r>
          </a:p>
          <a:p>
            <a:r>
              <a:rPr lang="en-US" sz="2000" b="1" dirty="0">
                <a:latin typeface="Candara Light" panose="020E0502030303020204" pitchFamily="34" charset="0"/>
              </a:rPr>
              <a:t>Google – 40%</a:t>
            </a:r>
          </a:p>
          <a:p>
            <a:r>
              <a:rPr lang="en-US" sz="2000" b="1" dirty="0">
                <a:latin typeface="Candara Light" panose="020E0502030303020204" pitchFamily="34" charset="0"/>
              </a:rPr>
              <a:t>Word / Docs – 5%</a:t>
            </a:r>
          </a:p>
          <a:p>
            <a:r>
              <a:rPr lang="en-US" sz="2000" b="1" dirty="0">
                <a:latin typeface="Candara Light" panose="020E0502030303020204" pitchFamily="34" charset="0"/>
              </a:rPr>
              <a:t>Pinterest – 5%</a:t>
            </a:r>
          </a:p>
          <a:p>
            <a:pPr marL="0" indent="0">
              <a:buNone/>
            </a:pPr>
            <a:endParaRPr lang="en-US" sz="2000" b="1" dirty="0">
              <a:latin typeface="Candara Light" panose="020E0502030303020204" pitchFamily="34" charset="0"/>
            </a:endParaRPr>
          </a:p>
        </p:txBody>
      </p:sp>
      <p:pic>
        <p:nvPicPr>
          <p:cNvPr id="3074" name="Picture 2" descr="The illustration depicts a dataset icon representing data storage ...">
            <a:extLst>
              <a:ext uri="{FF2B5EF4-FFF2-40B4-BE49-F238E27FC236}">
                <a16:creationId xmlns:a16="http://schemas.microsoft.com/office/drawing/2014/main" id="{CD371399-EDE8-1F1E-EE6C-F25167D8B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412" y="1077769"/>
            <a:ext cx="3740467" cy="249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02D75E6-CA05-AF7F-E59A-9299288D703B}"/>
              </a:ext>
            </a:extLst>
          </p:cNvPr>
          <p:cNvSpPr txBox="1">
            <a:spLocks/>
          </p:cNvSpPr>
          <p:nvPr/>
        </p:nvSpPr>
        <p:spPr>
          <a:xfrm>
            <a:off x="768927" y="39418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ndara Light" panose="020E0502030303020204" pitchFamily="34" charset="0"/>
              </a:rPr>
              <a:t>Tool Evaluation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39EAC4-3760-7679-4654-7FB0D805158D}"/>
              </a:ext>
            </a:extLst>
          </p:cNvPr>
          <p:cNvSpPr txBox="1">
            <a:spLocks/>
          </p:cNvSpPr>
          <p:nvPr/>
        </p:nvSpPr>
        <p:spPr>
          <a:xfrm>
            <a:off x="1641762" y="4933372"/>
            <a:ext cx="3142673" cy="1813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latin typeface="Candara Light" panose="020E0502030303020204" pitchFamily="34" charset="0"/>
              </a:rPr>
              <a:t>Roboflow</a:t>
            </a:r>
            <a:endParaRPr lang="en-US" sz="2000" b="1" dirty="0">
              <a:latin typeface="Candara Light" panose="020E0502030303020204" pitchFamily="34" charset="0"/>
            </a:endParaRPr>
          </a:p>
          <a:p>
            <a:r>
              <a:rPr lang="en-US" sz="2000" b="1" dirty="0" err="1">
                <a:latin typeface="Candara Light" panose="020E0502030303020204" pitchFamily="34" charset="0"/>
              </a:rPr>
              <a:t>LabelImg</a:t>
            </a:r>
            <a:r>
              <a:rPr lang="en-US" sz="2000" b="1" dirty="0">
                <a:latin typeface="Candara Light" panose="020E0502030303020204" pitchFamily="34" charset="0"/>
              </a:rPr>
              <a:t> (paid)</a:t>
            </a:r>
          </a:p>
          <a:p>
            <a:r>
              <a:rPr lang="en-US" sz="2000" b="1" dirty="0">
                <a:latin typeface="Candara Light" panose="020E0502030303020204" pitchFamily="34" charset="0"/>
              </a:rPr>
              <a:t>Label Studio</a:t>
            </a:r>
          </a:p>
          <a:p>
            <a:r>
              <a:rPr lang="en-US" sz="2000" b="1" dirty="0">
                <a:latin typeface="Candara Light" panose="020E0502030303020204" pitchFamily="34" charset="0"/>
              </a:rPr>
              <a:t>Makesense.ai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093DAA-B067-DF04-8347-F6DA2C6E28E4}"/>
              </a:ext>
            </a:extLst>
          </p:cNvPr>
          <p:cNvSpPr txBox="1">
            <a:spLocks/>
          </p:cNvSpPr>
          <p:nvPr/>
        </p:nvSpPr>
        <p:spPr>
          <a:xfrm>
            <a:off x="768927" y="24954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ndara Light" panose="020E0502030303020204" pitchFamily="34" charset="0"/>
              </a:rPr>
              <a:t>Model Training?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C9EAB-4D4A-08FD-FFE3-48D4CC2B00A1}"/>
              </a:ext>
            </a:extLst>
          </p:cNvPr>
          <p:cNvSpPr txBox="1"/>
          <p:nvPr/>
        </p:nvSpPr>
        <p:spPr>
          <a:xfrm>
            <a:off x="1641762" y="35694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andara Light" panose="020E0502030303020204" pitchFamily="34" charset="0"/>
              </a:rPr>
              <a:t>Roboflow</a:t>
            </a:r>
            <a:endParaRPr lang="en-US" sz="2000" b="1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6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4075-0DE9-F41C-5C7B-80A51462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-2444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Candara Light" panose="020E0502030303020204" pitchFamily="34" charset="0"/>
              </a:rPr>
              <a:t>Roboflow</a:t>
            </a:r>
            <a:endParaRPr lang="en-US" sz="4000" b="1" dirty="0">
              <a:latin typeface="Candara Light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50DF3-D2FF-B0D5-F457-5FD6497B9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3528" y="809245"/>
            <a:ext cx="7346442" cy="3602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36CB7C-E920-6F31-D9E4-8F649A5DD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163" y="2824480"/>
            <a:ext cx="7397757" cy="373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8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Your paragraph text">
            <a:hlinkClick r:id="" action="ppaction://media"/>
            <a:extLst>
              <a:ext uri="{FF2B5EF4-FFF2-40B4-BE49-F238E27FC236}">
                <a16:creationId xmlns:a16="http://schemas.microsoft.com/office/drawing/2014/main" id="{B534AC67-2C9B-D8EE-8DB9-F6F872997F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91246" y="-107576"/>
            <a:ext cx="12383246" cy="69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2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7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8A0CE4-CADB-C30A-1CCD-8A3F7762C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81" y="0"/>
            <a:ext cx="11903237" cy="2951283"/>
          </a:xfrm>
          <a:prstGeom prst="rect">
            <a:avLst/>
          </a:prstGeom>
        </p:spPr>
      </p:pic>
      <p:pic>
        <p:nvPicPr>
          <p:cNvPr id="5" name="Picture 4" descr="A close-up of a checklist&#10;&#10;AI-generated content may be incorrect.">
            <a:extLst>
              <a:ext uri="{FF2B5EF4-FFF2-40B4-BE49-F238E27FC236}">
                <a16:creationId xmlns:a16="http://schemas.microsoft.com/office/drawing/2014/main" id="{082410AC-63C2-A675-EE26-A61F1B2DA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30" y="2877670"/>
            <a:ext cx="3715870" cy="398032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E7E546-F28F-6FA0-81F2-C4C7F71FF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877670"/>
            <a:ext cx="3715870" cy="398033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239ACE-3B05-60AE-367E-3F5B93976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060" y="2951283"/>
            <a:ext cx="3980329" cy="39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1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381643"/>
            <a:ext cx="2840477" cy="3237047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Future Workflow</a:t>
            </a:r>
            <a:endParaRPr sz="4000" b="1" dirty="0">
              <a:latin typeface="Candara Light" panose="020E0502030303020204" pitchFamily="34" charset="0"/>
            </a:endParaRPr>
          </a:p>
        </p:txBody>
      </p:sp>
      <p:pic>
        <p:nvPicPr>
          <p:cNvPr id="5" name="Picture 4" descr="A diagram of a work flow&#10;&#10;AI-generated content may be incorrect.">
            <a:extLst>
              <a:ext uri="{FF2B5EF4-FFF2-40B4-BE49-F238E27FC236}">
                <a16:creationId xmlns:a16="http://schemas.microsoft.com/office/drawing/2014/main" id="{F11C1DE2-B62B-6D36-2AEA-6D53ED363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" t="11052" r="2450" b="5703"/>
          <a:stretch/>
        </p:blipFill>
        <p:spPr>
          <a:xfrm>
            <a:off x="5921187" y="289112"/>
            <a:ext cx="4285129" cy="62797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80C177-F882-4198-81EC-4CF7FE19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204" y="2909702"/>
            <a:ext cx="1157592" cy="1038596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Q/A?</a:t>
            </a:r>
            <a:endParaRPr sz="4000" b="1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97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141</Words>
  <Application>Microsoft Office PowerPoint</Application>
  <PresentationFormat>Widescreen</PresentationFormat>
  <Paragraphs>40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Candara Light</vt:lpstr>
      <vt:lpstr>Office Theme</vt:lpstr>
      <vt:lpstr>Formulate: Intelligent Multi‑Agent Automated System for Form Processing</vt:lpstr>
      <vt:lpstr>Last Discussion</vt:lpstr>
      <vt:lpstr>PowerPoint Presentation</vt:lpstr>
      <vt:lpstr>PowerPoint Presentation</vt:lpstr>
      <vt:lpstr>Dataset?</vt:lpstr>
      <vt:lpstr>Roboflow</vt:lpstr>
      <vt:lpstr>PowerPoint Presentation</vt:lpstr>
      <vt:lpstr>PowerPoint Presentation</vt:lpstr>
      <vt:lpstr>Future Workflow</vt:lpstr>
      <vt:lpstr>Q/A?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dr-PC</dc:creator>
  <cp:lastModifiedBy>dr-PC</cp:lastModifiedBy>
  <cp:revision>2</cp:revision>
  <dcterms:created xsi:type="dcterms:W3CDTF">2025-12-02T17:11:39Z</dcterms:created>
  <dcterms:modified xsi:type="dcterms:W3CDTF">2025-12-03T03:01:27Z</dcterms:modified>
</cp:coreProperties>
</file>